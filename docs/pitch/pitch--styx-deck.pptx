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 Light"/>
      <p:regular r:id="rId17"/>
      <p:bold r:id="rId18"/>
      <p:italic r:id="rId19"/>
      <p:boldItalic r:id="rId20"/>
    </p:embeddedFont>
    <p:embeddedFont>
      <p:font typeface="Urbanist Medium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Light-boldItalic.fntdata"/><Relationship Id="rId22" Type="http://schemas.openxmlformats.org/officeDocument/2006/relationships/font" Target="fonts/UrbanistMedium-bold.fntdata"/><Relationship Id="rId21" Type="http://schemas.openxmlformats.org/officeDocument/2006/relationships/font" Target="fonts/UrbanistMedium-regular.fntdata"/><Relationship Id="rId24" Type="http://schemas.openxmlformats.org/officeDocument/2006/relationships/font" Target="fonts/UrbanistMedium-boldItalic.fntdata"/><Relationship Id="rId23" Type="http://schemas.openxmlformats.org/officeDocument/2006/relationships/font" Target="fonts/Urbanis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Light-regular.fntdata"/><Relationship Id="rId16" Type="http://schemas.openxmlformats.org/officeDocument/2006/relationships/slide" Target="slides/slide11.xml"/><Relationship Id="rId19" Type="http://schemas.openxmlformats.org/officeDocument/2006/relationships/font" Target="fonts/UrbanistLight-italic.fntdata"/><Relationship Id="rId18" Type="http://schemas.openxmlformats.org/officeDocument/2006/relationships/font" Target="fonts/Urbanist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11" Type="http://schemas.openxmlformats.org/officeDocument/2006/relationships/image" Target="../media/image4.png"/><Relationship Id="rId10" Type="http://schemas.openxmlformats.org/officeDocument/2006/relationships/image" Target="../media/image2.png"/><Relationship Id="rId12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26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95500" y="1950243"/>
            <a:ext cx="8001000" cy="785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STYX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2974181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Blockchain of Truth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669506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 decentralized, peer-audited behavioral market.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393406"/>
            <a:ext cx="7620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We transform analog, chaotic human intentions into systems-driven digital operations by leveraging financial escrow and community-driven fraud detection.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50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185987"/>
            <a:ext cx="5490686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Intention-Behavior Gap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2776537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Bounded Rationality: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Human beings consistently fail to translate long-term intentions into sustained daily action.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538537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Flawed Productivity Models: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Current apps rely on meaningless virtual badges or hardware tracking that is easily spoofed.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586287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"Oracle Problem":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Existing platforms have a systemic technological inability to flawlessly verify real-world actions without relying on easily manipulated self-reporting.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1453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81025" y="2624137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3386137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4433887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33587"/>
            <a:ext cx="5229225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33587"/>
            <a:ext cx="522922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71550" y="2424112"/>
            <a:ext cx="467058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Financial Escrow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71550" y="3109912"/>
            <a:ext cx="44481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We weaponize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loss aversion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, a psychological principle proving that the pain from losing money is roughly twice as powerful as the pleasure of gaining it.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71550" y="4348162"/>
            <a:ext cx="44481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Users lock a deposit into a behavioral contract. If they achieve their verifiable goal, they get it back; if they fail, they lose it.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72275" y="2424112"/>
            <a:ext cx="467058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Endowed Progress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72275" y="3109912"/>
            <a:ext cx="44481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To eliminate friction and drop-offs at onboarding, we utilize the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"Endowed Progress Effect"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72275" y="4062412"/>
            <a:ext cx="44481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By instantly granting users a micro-bonus upon funding their account, we provide an artificial advancement toward their goal that dramatically increases overall completion rates.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57400"/>
            <a:ext cx="34861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57400"/>
            <a:ext cx="34861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57400"/>
            <a:ext cx="348615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4479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76300" y="3352800"/>
            <a:ext cx="21102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Shift the Burden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76300" y="4038600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We solve the Oracle Problem by entirely shifting the burden of proof to a decentralized community of bounty hunters.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4479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4648200" y="3352800"/>
            <a:ext cx="275034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Anonymized Routing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48200" y="4038600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When a user uploads verification media, it is immediately anonymized and routed to three independent peer auditors.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44792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420100" y="3352800"/>
            <a:ext cx="178022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Incentive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20100" y="4038600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If the auditors (the "Rats") catch a user faking progress, the cheater's stake is liquidated, and the Rats earn a cash bounty.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9175" y="262890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91075" y="262890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01075" y="26289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Core Innovation: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Rat Bounty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1333500" y="1338262"/>
            <a:ext cx="9525000" cy="1714500"/>
          </a:xfrm>
          <a:prstGeom prst="roundRect">
            <a:avLst>
              <a:gd fmla="val 6666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2095500" y="1576387"/>
            <a:ext cx="84772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FBO Architecture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We operate entirely outside the flow of funds by utilizing "For Benefit Of" (FBO) accounts via enterprise payment processors, legally shielding the platform from Money Transmitter License (MTL) requirements.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1333500" y="3243262"/>
            <a:ext cx="9525000" cy="1428750"/>
          </a:xfrm>
          <a:prstGeom prst="roundRect">
            <a:avLst>
              <a:gd fmla="val 8000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2095500" y="3481387"/>
            <a:ext cx="8477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Skill-Based Contests, Not Gambling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The platform strictly enforces goals dependent on personal effort (diet, exercise), ensuring it qualifies legally as a "skill-based contest" rather than a game of chance.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333500" y="4862512"/>
            <a:ext cx="9525000" cy="1428750"/>
          </a:xfrm>
          <a:prstGeom prst="roundRect">
            <a:avLst>
              <a:gd fmla="val 8000" name="adj"/>
            </a:avLst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2095500" y="5100637"/>
            <a:ext cx="8477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Aegis Protocol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To prevent consumer harm and FTC violations, the app hardcodes a minimum Body Mass Index (BMI) of 18.5 and strictly caps weight-loss velocity at roughly 2% per week.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1333500" y="3043237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1333500" y="4662487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1333500" y="6281737"/>
            <a:ext cx="95250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1150" y="204787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1150" y="3810000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1150" y="5429250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81025" y="376237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Legal &amp; Regulatory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Moat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81025" y="581025"/>
            <a:ext cx="519064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Market &amp;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B2B Pivot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5050" y="9525"/>
            <a:ext cx="6067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81025" y="2266950"/>
            <a:ext cx="519064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1: Consumer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81025" y="2952750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Launching to highly motivated "biohacker" and fitness challenge communities using a zero-CAC viral referral loop fueled by endowed onboarding bonuses.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81025" y="4191000"/>
            <a:ext cx="519064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 2: Enterprise Corporate Wellness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81025" y="4876800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The ultimate unicorn valuation lies in licensing the platform directly to HR departments for corporate health tracking.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81025" y="5829300"/>
            <a:ext cx="519064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B2B Advantage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81025" y="6515100"/>
            <a:ext cx="49434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Employers exclusively fund the reward pools as performance bonuses, entirely removing the user's financial consideration and safely tracking commercial productivity.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28762"/>
            <a:ext cx="11029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1809750" y="5529262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 diversified revenue model transitioning from high-margin consumer failure rates to highly predictable, recurring B2B Enterprise SaaS licensing agreements.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81025" y="566737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Business Model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50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66775" y="5243512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Result: Operational burn rate kept under $2,000 for the entire first year.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66775" y="1814512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Ledger: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Absolute financial tracking via a PostgreSQL double-entry database.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66775" y="2576512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Routing: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BullMQ message queues to rapidly handle peer-review assignments to the Rat network.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66775" y="3338512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Zero-Egress Media: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Cloudflare R2 hosting and server-side FFmpeg compression to bypass the massive AWS S3 storage fees that kill media startups.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66775" y="4386262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APIs:</a:t>
            </a: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We strictly rely on open-source, accessible, and free-tier APIs (HealthKit, Plaid, MaxMind).</a:t>
            </a:r>
            <a:endParaRPr/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1453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81025" y="1662112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81025" y="2424112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81025" y="3186112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81025" y="4233862"/>
            <a:ext cx="666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Open-Source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Tech Stack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0637" y="200501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6381750" y="1690687"/>
            <a:ext cx="54906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Operator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381750" y="2185987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Proven track record of transforming stagnant, analog family businesses into professional, systems-driven operations.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381750" y="2995612"/>
            <a:ext cx="54906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Compliance Expertise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381750" y="3490912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Direct executive experience operating a Merchant Cash Advance business, providing a deep understanding of complex financial flows, risk management, and regulatory compliance.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381750" y="4586287"/>
            <a:ext cx="54906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Product Vision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81750" y="5081587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Background in rapid application prototyping paired with an MFA-level grasp of narrative and behavioral psychology to ensure visceral user connection.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737" y="2043112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Team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581025" y="4348162"/>
            <a:ext cx="1102995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28633" y="4700587"/>
            <a:ext cx="22004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Month 1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81025" y="5110162"/>
            <a:ext cx="20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Financial Escrow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&amp; Ledger Integration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2762097" y="3014662"/>
            <a:ext cx="22004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Month 2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2814488" y="3424237"/>
            <a:ext cx="20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FTC Guardrails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&amp; Biometric Intakes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4995561" y="4700587"/>
            <a:ext cx="22004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Month 3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5047952" y="5110162"/>
            <a:ext cx="20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Media Pipeline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&amp; Rat Bounty Network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7229024" y="3014662"/>
            <a:ext cx="22004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Month 4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281416" y="3424237"/>
            <a:ext cx="20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Live Lobbies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&amp; Judge Escalation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9462488" y="4700587"/>
            <a:ext cx="22004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Month 5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9514879" y="5110162"/>
            <a:ext cx="20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Enterprise B2B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HR Dashboards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1514549" y="42529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0A0A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3748013" y="42529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0A0A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981476" y="42529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0A0A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8214940" y="42529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0A0A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10448404" y="42529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0A0A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Ask &amp;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Milestones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1809750" y="12573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Seeking Seed Funding to execute our 5-Month Milestone Pipeline.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/>
          <p:nvPr/>
        </p:nvSpPr>
        <p:spPr>
          <a:xfrm>
            <a:off x="742950" y="2371725"/>
            <a:ext cx="10706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742950" y="3143250"/>
            <a:ext cx="10706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742950" y="3914775"/>
            <a:ext cx="10706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742950" y="3133725"/>
            <a:ext cx="107061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742950" y="3133725"/>
            <a:ext cx="107061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742950" y="3905250"/>
            <a:ext cx="107061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742950" y="3905250"/>
            <a:ext cx="107061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742950" y="4676775"/>
            <a:ext cx="107061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742950" y="4676775"/>
            <a:ext cx="107061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2514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1838325" y="2521743"/>
            <a:ext cx="96107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https://img.wallmur.net/@wmp/_826ax660/a/b/abstract-wallpaper-3d-look-geometric-corridor-wall-mural-modern_zgtkzqv1awd_3d_1.jpg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838325" y="2755106"/>
            <a:ext cx="9610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www.wallmur.com</a:t>
            </a:r>
            <a:endParaRPr/>
          </a:p>
        </p:txBody>
      </p:sp>
      <p:pic>
        <p:nvPicPr>
          <p:cNvPr descr="image.png" id="249" name="Google Shape;2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3286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1838325" y="3293268"/>
            <a:ext cx="96107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https://cdn.dribbble.com/userupload/46281481/file/still-94f3c0c00ee5824a0ee0dc29065d14a8.png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1838325" y="3526631"/>
            <a:ext cx="9610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dribbble.com</a:t>
            </a:r>
            <a:endParaRPr/>
          </a:p>
        </p:txBody>
      </p:sp>
      <p:pic>
        <p:nvPicPr>
          <p:cNvPr descr="image.png" id="252" name="Google Shape;25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4057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1838325" y="4064793"/>
            <a:ext cx="96107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https://png.pngtree.com/thumb_back/fh260/background/20250702/pngtree-cloud-computing-infrastructure-servers-with-data-flowing-as-clouds-in-a-image_17454997.webp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1838325" y="4298156"/>
            <a:ext cx="9610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pngtree.com</a:t>
            </a:r>
            <a:endParaRPr/>
          </a:p>
        </p:txBody>
      </p:sp>
      <p:pic>
        <p:nvPicPr>
          <p:cNvPr descr="image.png" id="255" name="Google Shape;25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2950" y="4829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1838325" y="4836318"/>
            <a:ext cx="96107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https://media.easy-peasy.ai/27feb2bb-aeb4-4a83-9fb6-8f3f2a15885e/ce3b1faa-0c2d-4d88-92b5-2c97dccffe65_medium.webp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1838325" y="5069681"/>
            <a:ext cx="9610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easy-peasy.ai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